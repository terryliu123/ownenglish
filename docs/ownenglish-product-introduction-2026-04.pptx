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4" d="100"/>
          <a:sy n="34" d="100"/>
        </p:scale>
        <p:origin x="480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68C549-BE8D-F079-B97E-C94A1499B4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F7635FA-083B-CDA9-A6E5-EBE2CACA6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5106A1-34B2-48DF-A84F-FF59BF216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D6549-01CF-47CA-94A6-06AA0B128548}" type="datetimeFigureOut">
              <a:rPr lang="zh-CN" altLang="en-US" smtClean="0"/>
              <a:t>2026-4-10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C3BE10-0B56-D71A-5286-01A090D0B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0B6795-41FB-B2C2-89DB-1998216C3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FD6B9-1FDC-482B-ADF4-F1C82A7141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4803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690C5C-2ABF-85B0-2F76-D5E3E2DCD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3B66A2-CAC8-00C4-D529-97648E246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F3AA0D-26C9-90F2-C29F-3C54330F6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D6549-01CF-47CA-94A6-06AA0B128548}" type="datetimeFigureOut">
              <a:rPr lang="zh-CN" altLang="en-US" smtClean="0"/>
              <a:t>2026-4-10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965FDA-C004-7FFD-5160-A070AC2A3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DC6308-D539-066D-EE6C-902F389D4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FD6B9-1FDC-482B-ADF4-F1C82A7141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5150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C6F680-EEE6-6562-BA6A-9C222BE0B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00F7DB-3C87-562D-00F3-D255E0471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3642DD-008D-865C-0F15-24DDBCE39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D6549-01CF-47CA-94A6-06AA0B128548}" type="datetimeFigureOut">
              <a:rPr lang="zh-CN" altLang="en-US" smtClean="0"/>
              <a:t>2026-4-10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100C91-CF28-3B20-41C9-51FDDA425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B98649-E387-592C-22A4-2399D659E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FD6B9-1FDC-482B-ADF4-F1C82A7141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1546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2CD217-6536-4E90-270E-99E2CCC09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F1A187-C2C3-D253-92B0-40C2EC554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C821C5-21C6-F536-0E46-9D306DED80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E6084C-8264-5ADE-1EC2-C8DE832AE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D6549-01CF-47CA-94A6-06AA0B128548}" type="datetimeFigureOut">
              <a:rPr lang="zh-CN" altLang="en-US" smtClean="0"/>
              <a:t>2026-4-10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6BB150-3E45-4BBF-FB73-ECD2B14A1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87EC43-BD94-1E5C-2FDE-06994C0B5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FD6B9-1FDC-482B-ADF4-F1C82A7141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5229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076568-AFD1-0D0D-9B63-C4EF3DC72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2FBFFC-AD42-7D65-542C-FF7E696EC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328A9EE-570E-AF4A-4CB5-6E3677E74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480CD5B-6473-D8F6-96A8-BC7430C1A2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5EC0DC3-D50E-2B9C-DF34-97E993532F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93D29D3-3BA5-1CD0-E2F6-6AB4A78C9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D6549-01CF-47CA-94A6-06AA0B128548}" type="datetimeFigureOut">
              <a:rPr lang="zh-CN" altLang="en-US" smtClean="0"/>
              <a:t>2026-4-10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13F2BAF-1003-DDA5-23E9-6FC8D8046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7697F3A-812D-AD8E-18D8-B4972DA23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FD6B9-1FDC-482B-ADF4-F1C82A7141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960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34AFEB-7F7F-E6ED-B941-EB1BAB540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3BB3450-58BF-0713-3491-8A3A28A71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D6549-01CF-47CA-94A6-06AA0B128548}" type="datetimeFigureOut">
              <a:rPr lang="zh-CN" altLang="en-US" smtClean="0"/>
              <a:t>2026-4-10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3D7A57-BA13-76B1-FA17-8E44D7424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7309E80-1171-B87C-659F-862261102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FD6B9-1FDC-482B-ADF4-F1C82A7141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103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B5FB04A-423A-EB62-C7C4-577D39616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D6549-01CF-47CA-94A6-06AA0B128548}" type="datetimeFigureOut">
              <a:rPr lang="zh-CN" altLang="en-US" smtClean="0"/>
              <a:t>2026-4-10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11F11D3-7A3F-4D88-A3C8-5BA3BBB6B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DFD6FB-EDA7-84B6-3498-AA547F2E6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FD6B9-1FDC-482B-ADF4-F1C82A7141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0330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3D46FB-88B5-CC54-D451-4863307DB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41BD00-D2CC-CAC0-5D81-9A486AA1B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7278544-B0CD-EB23-0A12-9657E96C87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9B282A-62F5-AAC1-87FC-56064F125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D6549-01CF-47CA-94A6-06AA0B128548}" type="datetimeFigureOut">
              <a:rPr lang="zh-CN" altLang="en-US" smtClean="0"/>
              <a:t>2026-4-10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25024A-D279-03FE-FB0A-2D464A28D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4F890A-96C7-7FEB-5CFA-72226CF3A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FD6B9-1FDC-482B-ADF4-F1C82A7141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4019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A37DBF-0B78-D1E9-7F92-B758F30F6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B6A2926-43F9-7A27-A471-06A9B6FDFE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2CA0B10-EAA4-5BE6-887B-15538A43E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29751C-742C-91EC-454D-E1FB1B36D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D6549-01CF-47CA-94A6-06AA0B128548}" type="datetimeFigureOut">
              <a:rPr lang="zh-CN" altLang="en-US" smtClean="0"/>
              <a:t>2026-4-10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6BEB28-F5C4-D769-D058-D4E42AE3D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1089CA-B7E1-37FF-2BAA-ED719FC39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FD6B9-1FDC-482B-ADF4-F1C82A7141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9808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C68514-B24C-370C-B287-CD9F85DD5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6DD8A81-66B0-D3D4-AE03-47935ECC82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328704-32C3-8924-72F7-0D4692158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D6549-01CF-47CA-94A6-06AA0B128548}" type="datetimeFigureOut">
              <a:rPr lang="zh-CN" altLang="en-US" smtClean="0"/>
              <a:t>2026-4-10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C812CC-795D-667E-A701-5B05BCA69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ADECF5-1489-8E33-5154-895A135F5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FD6B9-1FDC-482B-ADF4-F1C82A7141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57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AC3560A-3717-5600-380A-3F9383A2E9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39E220E-2666-1F1E-0DD3-D10DB4685E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B736CC-9489-79E0-9FB8-9573EC715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D6549-01CF-47CA-94A6-06AA0B128548}" type="datetimeFigureOut">
              <a:rPr lang="zh-CN" altLang="en-US" smtClean="0"/>
              <a:t>2026-4-10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90C6AF-FF5D-49B2-0E24-B61E0727E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792820-E3FF-1C5C-640B-35DA3035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FD6B9-1FDC-482B-ADF4-F1C82A7141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7601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DA5E52A-80D8-D436-467C-C88FFAE5D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F9A28A-1A5E-4D0C-4700-BA7137AF8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9C0D09-9884-ABCE-6A82-96856D1699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BD6549-01CF-47CA-94A6-06AA0B128548}" type="datetimeFigureOut">
              <a:rPr lang="zh-CN" altLang="en-US" smtClean="0"/>
              <a:t>2026-4-10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402360-CA15-86D6-79B9-25FEBE21CF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459BFD-AF28-84D5-2F3B-9B22C6B22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FD6B9-1FDC-482B-ADF4-F1C82A7141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341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6164A89-036D-4000-0CF8-2BEC2D9C44EB}"/>
              </a:ext>
            </a:extLst>
          </p:cNvPr>
          <p:cNvSpPr/>
          <p:nvPr/>
        </p:nvSpPr>
        <p:spPr>
          <a:xfrm>
            <a:off x="0" y="0"/>
            <a:ext cx="12192000" cy="203200"/>
          </a:xfrm>
          <a:prstGeom prst="rect">
            <a:avLst/>
          </a:prstGeom>
          <a:solidFill>
            <a:srgbClr val="0677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B2FFABB-522D-BB67-EBBB-91DB065ED0A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838200"/>
            <a:ext cx="1524000" cy="1524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C222EFA-F72A-70EB-26ED-C4BBAA54B001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2A17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3CF64CC-5B28-7677-C221-193DC60B4F22}"/>
              </a:ext>
            </a:extLst>
          </p:cNvPr>
          <p:cNvSpPr txBox="1"/>
          <p:nvPr/>
        </p:nvSpPr>
        <p:spPr>
          <a:xfrm>
            <a:off x="736600" y="381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产品介绍 </a:t>
            </a:r>
            <a:r>
              <a:rPr lang="en-US" altLang="zh-CN" sz="14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2026.04</a:t>
            </a:r>
            <a:endParaRPr lang="zh-CN" altLang="en-US" sz="1400">
              <a:solidFill>
                <a:srgbClr val="54403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D8B1494-00F9-7025-CEF1-19AA90A29B15}"/>
              </a:ext>
            </a:extLst>
          </p:cNvPr>
          <p:cNvSpPr txBox="1"/>
          <p:nvPr/>
        </p:nvSpPr>
        <p:spPr>
          <a:xfrm>
            <a:off x="2667000" y="1524000"/>
            <a:ext cx="825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000" b="1">
                <a:solidFill>
                  <a:srgbClr val="2718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胖鼠互动课堂系统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C302302-BB92-1C78-63E2-D804685015B3}"/>
              </a:ext>
            </a:extLst>
          </p:cNvPr>
          <p:cNvSpPr txBox="1"/>
          <p:nvPr/>
        </p:nvSpPr>
        <p:spPr>
          <a:xfrm>
            <a:off x="2667000" y="2540000"/>
            <a:ext cx="825500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200">
                <a:solidFill>
                  <a:srgbClr val="5141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一套围绕白板主控，组织课堂讲解、互动、教具、</a:t>
            </a:r>
            <a:r>
              <a:rPr lang="en-US" altLang="zh-CN" sz="2200">
                <a:solidFill>
                  <a:srgbClr val="5141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2200">
                <a:solidFill>
                  <a:srgbClr val="5141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与课后回顾的课堂运行系统。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8A5EA65-7E15-9CC2-96EF-73E9131596DD}"/>
              </a:ext>
            </a:extLst>
          </p:cNvPr>
          <p:cNvSpPr/>
          <p:nvPr/>
        </p:nvSpPr>
        <p:spPr>
          <a:xfrm>
            <a:off x="2667000" y="4064000"/>
            <a:ext cx="5461000" cy="533400"/>
          </a:xfrm>
          <a:prstGeom prst="roundRect">
            <a:avLst/>
          </a:prstGeom>
          <a:solidFill>
            <a:srgbClr val="E5F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rgbClr val="0E40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老师只需要进入白板，就可以把一节课组织起来。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87C976-7E20-C5BF-8097-1B75740D30F4}"/>
              </a:ext>
            </a:extLst>
          </p:cNvPr>
          <p:cNvSpPr txBox="1"/>
          <p:nvPr/>
        </p:nvSpPr>
        <p:spPr>
          <a:xfrm>
            <a:off x="711200" y="8636000"/>
            <a:ext cx="10668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8570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D:\pcode\ownenglish\docs\ownenglish-product-introduction-2026-04.pptx</a:t>
            </a:r>
            <a:endParaRPr lang="zh-CN" altLang="en-US" sz="1000">
              <a:solidFill>
                <a:srgbClr val="85706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5317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3CF26F9-1256-E544-EC83-ECACA6843E57}"/>
              </a:ext>
            </a:extLst>
          </p:cNvPr>
          <p:cNvSpPr/>
          <p:nvPr/>
        </p:nvSpPr>
        <p:spPr>
          <a:xfrm>
            <a:off x="0" y="0"/>
            <a:ext cx="12192000" cy="203200"/>
          </a:xfrm>
          <a:prstGeom prst="rect">
            <a:avLst/>
          </a:prstGeom>
          <a:solidFill>
            <a:srgbClr val="0677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BE4AE05-2788-D991-63FC-DABBE39DAC8D}"/>
              </a:ext>
            </a:extLst>
          </p:cNvPr>
          <p:cNvSpPr txBox="1"/>
          <p:nvPr/>
        </p:nvSpPr>
        <p:spPr>
          <a:xfrm>
            <a:off x="609600" y="457200"/>
            <a:ext cx="1041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800" b="1">
                <a:solidFill>
                  <a:srgbClr val="3024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</a:t>
            </a:r>
            <a:r>
              <a:rPr lang="zh-CN" altLang="en-US" sz="2800" b="1">
                <a:solidFill>
                  <a:srgbClr val="3024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产品定位与适用对象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622D1D0-3F8A-02A6-F85B-82A09EB393ED}"/>
              </a:ext>
            </a:extLst>
          </p:cNvPr>
          <p:cNvSpPr txBox="1"/>
          <p:nvPr/>
        </p:nvSpPr>
        <p:spPr>
          <a:xfrm>
            <a:off x="711200" y="1320800"/>
            <a:ext cx="10668000" cy="286232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产品定位
</a:t>
            </a:r>
            <a:r>
              <a:rPr lang="en-US" altLang="zh-CN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面向教师课堂场景的互动教学系统
</a:t>
            </a:r>
            <a:r>
              <a:rPr lang="en-US" altLang="zh-CN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不是单一白板工具，也不是单一题库系统
</a:t>
            </a:r>
            <a:r>
              <a:rPr lang="en-US" altLang="zh-CN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围绕“一节课如何开始、运行、结束并回顾”组织产品能力
适用对象
</a:t>
            </a:r>
            <a:r>
              <a:rPr lang="en-US" altLang="zh-CN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需要高频课堂互动的教师
</a:t>
            </a:r>
            <a:r>
              <a:rPr lang="en-US" altLang="zh-CN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需要把讲解、发题、展示收在同一流程中的教学团队
</a:t>
            </a:r>
            <a:r>
              <a:rPr lang="en-US" altLang="zh-CN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需要沉淀课堂记录和课后复盘的机构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72BC15C-70AE-30A5-B333-C9CDB177709B}"/>
              </a:ext>
            </a:extLst>
          </p:cNvPr>
          <p:cNvSpPr txBox="1"/>
          <p:nvPr/>
        </p:nvSpPr>
        <p:spPr>
          <a:xfrm>
            <a:off x="711200" y="8636000"/>
            <a:ext cx="10668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8570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核心定位：课堂主控系统，而不是功能拼盘。</a:t>
            </a:r>
          </a:p>
        </p:txBody>
      </p:sp>
    </p:spTree>
    <p:extLst>
      <p:ext uri="{BB962C8B-B14F-4D97-AF65-F5344CB8AC3E}">
        <p14:creationId xmlns:p14="http://schemas.microsoft.com/office/powerpoint/2010/main" val="3150059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A1E98F3-519D-3B53-87EB-564E6B219B69}"/>
              </a:ext>
            </a:extLst>
          </p:cNvPr>
          <p:cNvSpPr/>
          <p:nvPr/>
        </p:nvSpPr>
        <p:spPr>
          <a:xfrm>
            <a:off x="0" y="0"/>
            <a:ext cx="12192000" cy="203200"/>
          </a:xfrm>
          <a:prstGeom prst="rect">
            <a:avLst/>
          </a:prstGeom>
          <a:solidFill>
            <a:srgbClr val="0677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72D0FF6-DBD3-4F74-FC80-92E7B877F075}"/>
              </a:ext>
            </a:extLst>
          </p:cNvPr>
          <p:cNvSpPr txBox="1"/>
          <p:nvPr/>
        </p:nvSpPr>
        <p:spPr>
          <a:xfrm>
            <a:off x="609600" y="457200"/>
            <a:ext cx="1041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800" b="1">
                <a:solidFill>
                  <a:srgbClr val="3024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sz="2800" b="1">
                <a:solidFill>
                  <a:srgbClr val="3024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一节课的完整主流程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6E0B07F-3DD8-D51D-AEA1-3BDFB22BBAE8}"/>
              </a:ext>
            </a:extLst>
          </p:cNvPr>
          <p:cNvSpPr/>
          <p:nvPr/>
        </p:nvSpPr>
        <p:spPr>
          <a:xfrm>
            <a:off x="711200" y="2286000"/>
            <a:ext cx="1651000" cy="990600"/>
          </a:xfrm>
          <a:prstGeom prst="rect">
            <a:avLst/>
          </a:prstGeom>
          <a:solidFill>
            <a:srgbClr val="FCFAF8"/>
          </a:solidFill>
          <a:ln>
            <a:solidFill>
              <a:srgbClr val="DDD5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rgbClr val="3729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开始本节课</a:t>
            </a:r>
          </a:p>
          <a:p>
            <a:pPr algn="ctr"/>
            <a:r>
              <a:rPr lang="zh-CN" altLang="en-US" sz="1600">
                <a:solidFill>
                  <a:srgbClr val="3729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建立课堂边界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C2B1128-38E9-D95F-3ACE-EF4816B2BDAF}"/>
              </a:ext>
            </a:extLst>
          </p:cNvPr>
          <p:cNvSpPr/>
          <p:nvPr/>
        </p:nvSpPr>
        <p:spPr>
          <a:xfrm>
            <a:off x="2743200" y="2286000"/>
            <a:ext cx="1651000" cy="990600"/>
          </a:xfrm>
          <a:prstGeom prst="rect">
            <a:avLst/>
          </a:prstGeom>
          <a:solidFill>
            <a:srgbClr val="FCFAF8"/>
          </a:solidFill>
          <a:ln>
            <a:solidFill>
              <a:srgbClr val="DDD5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rgbClr val="3729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白板讲解</a:t>
            </a:r>
          </a:p>
          <a:p>
            <a:pPr algn="ctr"/>
            <a:r>
              <a:rPr lang="zh-CN" altLang="en-US" sz="1600">
                <a:solidFill>
                  <a:srgbClr val="3729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组织核心内容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4FF5E15-44CB-DA8C-864B-FC83A203ADBC}"/>
              </a:ext>
            </a:extLst>
          </p:cNvPr>
          <p:cNvSpPr/>
          <p:nvPr/>
        </p:nvSpPr>
        <p:spPr>
          <a:xfrm>
            <a:off x="4775200" y="2286000"/>
            <a:ext cx="1651000" cy="990600"/>
          </a:xfrm>
          <a:prstGeom prst="rect">
            <a:avLst/>
          </a:prstGeom>
          <a:solidFill>
            <a:srgbClr val="FCFAF8"/>
          </a:solidFill>
          <a:ln>
            <a:solidFill>
              <a:srgbClr val="DDD5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rgbClr val="3729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互动任务</a:t>
            </a:r>
          </a:p>
          <a:p>
            <a:pPr algn="ctr"/>
            <a:r>
              <a:rPr lang="zh-CN" altLang="en-US" sz="1600">
                <a:solidFill>
                  <a:srgbClr val="3729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发题、</a:t>
            </a:r>
            <a:r>
              <a:rPr lang="en-US" altLang="zh-CN" sz="1600">
                <a:solidFill>
                  <a:srgbClr val="3729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PK</a:t>
            </a:r>
            <a:r>
              <a:rPr lang="zh-CN" altLang="en-US" sz="1600">
                <a:solidFill>
                  <a:srgbClr val="3729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、挑战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EC7CC53-FE93-AF85-1AD6-E00518E4977F}"/>
              </a:ext>
            </a:extLst>
          </p:cNvPr>
          <p:cNvSpPr/>
          <p:nvPr/>
        </p:nvSpPr>
        <p:spPr>
          <a:xfrm>
            <a:off x="6807200" y="2286000"/>
            <a:ext cx="1651000" cy="990600"/>
          </a:xfrm>
          <a:prstGeom prst="rect">
            <a:avLst/>
          </a:prstGeom>
          <a:solidFill>
            <a:srgbClr val="FCFAF8"/>
          </a:solidFill>
          <a:ln>
            <a:solidFill>
              <a:srgbClr val="DDD5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rgbClr val="3729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教具</a:t>
            </a:r>
            <a:r>
              <a:rPr lang="en-US" altLang="zh-CN" sz="1600">
                <a:solidFill>
                  <a:srgbClr val="3729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600">
                <a:solidFill>
                  <a:srgbClr val="3729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大屏</a:t>
            </a:r>
          </a:p>
          <a:p>
            <a:pPr algn="ctr"/>
            <a:r>
              <a:rPr lang="zh-CN" altLang="en-US" sz="1600">
                <a:solidFill>
                  <a:srgbClr val="3729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增强展示与互动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C3938DD-6A08-CC16-26C3-6FA75E0C3A09}"/>
              </a:ext>
            </a:extLst>
          </p:cNvPr>
          <p:cNvSpPr/>
          <p:nvPr/>
        </p:nvSpPr>
        <p:spPr>
          <a:xfrm>
            <a:off x="8839200" y="2286000"/>
            <a:ext cx="1651000" cy="990600"/>
          </a:xfrm>
          <a:prstGeom prst="rect">
            <a:avLst/>
          </a:prstGeom>
          <a:solidFill>
            <a:srgbClr val="FCFAF8"/>
          </a:solidFill>
          <a:ln>
            <a:solidFill>
              <a:srgbClr val="DDD5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rgbClr val="3729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1600">
                <a:solidFill>
                  <a:srgbClr val="3729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辅助</a:t>
            </a:r>
          </a:p>
          <a:p>
            <a:pPr algn="ctr"/>
            <a:r>
              <a:rPr lang="zh-CN" altLang="en-US" sz="1600">
                <a:solidFill>
                  <a:srgbClr val="3729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解释、追问、讲解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C1A9B6A6-4BA7-5C14-73D7-90455B9481E3}"/>
              </a:ext>
            </a:extLst>
          </p:cNvPr>
          <p:cNvSpPr/>
          <p:nvPr/>
        </p:nvSpPr>
        <p:spPr>
          <a:xfrm>
            <a:off x="2387600" y="2603500"/>
            <a:ext cx="254000" cy="228600"/>
          </a:xfrm>
          <a:prstGeom prst="rightArrow">
            <a:avLst/>
          </a:prstGeom>
          <a:solidFill>
            <a:srgbClr val="0677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C3D27602-8C05-8D23-21FE-3378026C8E87}"/>
              </a:ext>
            </a:extLst>
          </p:cNvPr>
          <p:cNvSpPr/>
          <p:nvPr/>
        </p:nvSpPr>
        <p:spPr>
          <a:xfrm>
            <a:off x="4419600" y="2603500"/>
            <a:ext cx="254000" cy="228600"/>
          </a:xfrm>
          <a:prstGeom prst="rightArrow">
            <a:avLst/>
          </a:prstGeom>
          <a:solidFill>
            <a:srgbClr val="0677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503E80C9-E8A8-8812-78D5-93CBBC4342BF}"/>
              </a:ext>
            </a:extLst>
          </p:cNvPr>
          <p:cNvSpPr/>
          <p:nvPr/>
        </p:nvSpPr>
        <p:spPr>
          <a:xfrm>
            <a:off x="6451600" y="2603500"/>
            <a:ext cx="254000" cy="228600"/>
          </a:xfrm>
          <a:prstGeom prst="rightArrow">
            <a:avLst/>
          </a:prstGeom>
          <a:solidFill>
            <a:srgbClr val="0677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0E34E8DB-0A19-083F-A6DF-7548ABD99C71}"/>
              </a:ext>
            </a:extLst>
          </p:cNvPr>
          <p:cNvSpPr/>
          <p:nvPr/>
        </p:nvSpPr>
        <p:spPr>
          <a:xfrm>
            <a:off x="8483600" y="2603500"/>
            <a:ext cx="254000" cy="228600"/>
          </a:xfrm>
          <a:prstGeom prst="rightArrow">
            <a:avLst/>
          </a:prstGeom>
          <a:solidFill>
            <a:srgbClr val="0677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E11A9F7-BCAC-AA64-5E2A-6004F8E8DD50}"/>
              </a:ext>
            </a:extLst>
          </p:cNvPr>
          <p:cNvSpPr/>
          <p:nvPr/>
        </p:nvSpPr>
        <p:spPr>
          <a:xfrm>
            <a:off x="2794000" y="4572000"/>
            <a:ext cx="5334000" cy="1066800"/>
          </a:xfrm>
          <a:prstGeom prst="rect">
            <a:avLst/>
          </a:prstGeom>
          <a:solidFill>
            <a:srgbClr val="EDF7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srgbClr val="1234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结束本节课 </a:t>
            </a:r>
            <a:r>
              <a:rPr lang="en-US" altLang="zh-CN" sz="2000" b="1">
                <a:solidFill>
                  <a:srgbClr val="1234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-&gt; </a:t>
            </a:r>
            <a:r>
              <a:rPr lang="zh-CN" altLang="en-US" sz="2000" b="1">
                <a:solidFill>
                  <a:srgbClr val="1234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进入课堂回顾</a:t>
            </a:r>
          </a:p>
          <a:p>
            <a:pPr algn="ctr"/>
            <a:r>
              <a:rPr lang="zh-CN" altLang="en-US" sz="2000" b="1">
                <a:solidFill>
                  <a:srgbClr val="1234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系统把课堂从工具操作，升级为完整教学周期。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1FA0BA1-865C-13D3-0D20-79B3D07CFDBB}"/>
              </a:ext>
            </a:extLst>
          </p:cNvPr>
          <p:cNvSpPr txBox="1"/>
          <p:nvPr/>
        </p:nvSpPr>
        <p:spPr>
          <a:xfrm>
            <a:off x="711200" y="8636000"/>
            <a:ext cx="10668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8570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主流程是当前系统最清晰的产品主张。</a:t>
            </a:r>
          </a:p>
        </p:txBody>
      </p:sp>
    </p:spTree>
    <p:extLst>
      <p:ext uri="{BB962C8B-B14F-4D97-AF65-F5344CB8AC3E}">
        <p14:creationId xmlns:p14="http://schemas.microsoft.com/office/powerpoint/2010/main" val="3641897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BB8C890-D79F-D7ED-AD66-160EB317232D}"/>
              </a:ext>
            </a:extLst>
          </p:cNvPr>
          <p:cNvSpPr/>
          <p:nvPr/>
        </p:nvSpPr>
        <p:spPr>
          <a:xfrm>
            <a:off x="0" y="0"/>
            <a:ext cx="12192000" cy="203200"/>
          </a:xfrm>
          <a:prstGeom prst="rect">
            <a:avLst/>
          </a:prstGeom>
          <a:solidFill>
            <a:srgbClr val="0677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05F8479-2EED-9DC8-B7A7-550DFCBACAF1}"/>
              </a:ext>
            </a:extLst>
          </p:cNvPr>
          <p:cNvSpPr txBox="1"/>
          <p:nvPr/>
        </p:nvSpPr>
        <p:spPr>
          <a:xfrm>
            <a:off x="609600" y="457200"/>
            <a:ext cx="1041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800" b="1">
                <a:solidFill>
                  <a:srgbClr val="3024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 </a:t>
            </a:r>
            <a:r>
              <a:rPr lang="zh-CN" altLang="en-US" sz="2800" b="1">
                <a:solidFill>
                  <a:srgbClr val="3024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核心能力模块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8DD5BF9-8317-9129-85A2-B8718EF45628}"/>
              </a:ext>
            </a:extLst>
          </p:cNvPr>
          <p:cNvSpPr/>
          <p:nvPr/>
        </p:nvSpPr>
        <p:spPr>
          <a:xfrm>
            <a:off x="711200" y="1524000"/>
            <a:ext cx="4953000" cy="5588000"/>
          </a:xfrm>
          <a:prstGeom prst="rect">
            <a:avLst/>
          </a:prstGeom>
          <a:solidFill>
            <a:srgbClr val="FCFAF8"/>
          </a:solidFill>
          <a:ln>
            <a:solidFill>
              <a:srgbClr val="DDD5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BA75ECF-9278-D8B9-EA16-303EC67300ED}"/>
              </a:ext>
            </a:extLst>
          </p:cNvPr>
          <p:cNvSpPr/>
          <p:nvPr/>
        </p:nvSpPr>
        <p:spPr>
          <a:xfrm>
            <a:off x="6223000" y="1524000"/>
            <a:ext cx="4953000" cy="5588000"/>
          </a:xfrm>
          <a:prstGeom prst="rect">
            <a:avLst/>
          </a:prstGeom>
          <a:solidFill>
            <a:srgbClr val="FCFAF8"/>
          </a:solidFill>
          <a:ln>
            <a:solidFill>
              <a:srgbClr val="DDD5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EAAA5FC-199A-BF0A-2D19-AA962F828871}"/>
              </a:ext>
            </a:extLst>
          </p:cNvPr>
          <p:cNvSpPr txBox="1"/>
          <p:nvPr/>
        </p:nvSpPr>
        <p:spPr>
          <a:xfrm>
            <a:off x="990600" y="1841500"/>
            <a:ext cx="4445000" cy="369331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白板主控课堂
</a:t>
            </a:r>
            <a:r>
              <a:rPr lang="en-US" altLang="zh-CN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白板即课堂主控台
</a:t>
            </a:r>
            <a:r>
              <a:rPr lang="en-US" altLang="zh-CN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承担讲解、互动、控制与展示
课堂互动任务
</a:t>
            </a:r>
            <a:r>
              <a:rPr lang="en-US" altLang="zh-CN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课堂中发题与查看参与情况
</a:t>
            </a:r>
            <a:r>
              <a:rPr lang="en-US" altLang="zh-CN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支持任务驱动课堂节奏
多种互动方式
</a:t>
            </a:r>
            <a:r>
              <a:rPr lang="en-US" altLang="zh-CN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常规任务
</a:t>
            </a:r>
            <a:r>
              <a:rPr lang="en-US" altLang="zh-CN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双人 </a:t>
            </a:r>
            <a:r>
              <a:rPr lang="en-US" altLang="zh-CN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PK
• </a:t>
            </a:r>
            <a:r>
              <a:rPr lang="zh-CN" altLang="en-US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全班挑战
</a:t>
            </a:r>
            <a:r>
              <a:rPr lang="en-US" altLang="zh-CN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大屏互动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6E0F1E-896B-26A5-7942-FCAA60D805A1}"/>
              </a:ext>
            </a:extLst>
          </p:cNvPr>
          <p:cNvSpPr txBox="1"/>
          <p:nvPr/>
        </p:nvSpPr>
        <p:spPr>
          <a:xfrm>
            <a:off x="6502400" y="1841500"/>
            <a:ext cx="4445000" cy="31393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数字化教具
</a:t>
            </a:r>
            <a:r>
              <a:rPr lang="en-US" altLang="zh-CN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在课堂内直接调用教具
</a:t>
            </a:r>
            <a:r>
              <a:rPr lang="en-US" altLang="zh-CN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帮助老师快速展示知识点
课堂回顾
</a:t>
            </a:r>
            <a:r>
              <a:rPr lang="en-US" altLang="zh-CN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有开始、有过程、有结束、有回顾
</a:t>
            </a:r>
            <a:r>
              <a:rPr lang="en-US" altLang="zh-CN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支持课后复盘与课堂摘要
胖鼠 </a:t>
            </a:r>
            <a:r>
              <a:rPr lang="en-US" altLang="zh-CN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副班
</a:t>
            </a:r>
            <a:r>
              <a:rPr lang="en-US" altLang="zh-CN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基于白板内容提问
</a:t>
            </a:r>
            <a:r>
              <a:rPr lang="en-US" altLang="zh-CN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自由问答、快捷问题、语音讲解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0F97921-6AE2-C541-6D06-176AB68D2D36}"/>
              </a:ext>
            </a:extLst>
          </p:cNvPr>
          <p:cNvSpPr txBox="1"/>
          <p:nvPr/>
        </p:nvSpPr>
        <p:spPr>
          <a:xfrm>
            <a:off x="711200" y="8636000"/>
            <a:ext cx="10668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8570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模块不是孤立能力，而是围绕同一节课协同工作。</a:t>
            </a:r>
          </a:p>
        </p:txBody>
      </p:sp>
    </p:spTree>
    <p:extLst>
      <p:ext uri="{BB962C8B-B14F-4D97-AF65-F5344CB8AC3E}">
        <p14:creationId xmlns:p14="http://schemas.microsoft.com/office/powerpoint/2010/main" val="1557950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1628CE7-95EF-48D9-0A43-A79D807F01BC}"/>
              </a:ext>
            </a:extLst>
          </p:cNvPr>
          <p:cNvSpPr/>
          <p:nvPr/>
        </p:nvSpPr>
        <p:spPr>
          <a:xfrm>
            <a:off x="0" y="0"/>
            <a:ext cx="12192000" cy="203200"/>
          </a:xfrm>
          <a:prstGeom prst="rect">
            <a:avLst/>
          </a:prstGeom>
          <a:solidFill>
            <a:srgbClr val="0677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2D167DA-3675-9B21-D144-EB49E6435033}"/>
              </a:ext>
            </a:extLst>
          </p:cNvPr>
          <p:cNvSpPr txBox="1"/>
          <p:nvPr/>
        </p:nvSpPr>
        <p:spPr>
          <a:xfrm>
            <a:off x="609600" y="457200"/>
            <a:ext cx="1041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800" b="1">
                <a:solidFill>
                  <a:srgbClr val="3024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 </a:t>
            </a:r>
            <a:r>
              <a:rPr lang="zh-CN" altLang="en-US" sz="2800" b="1">
                <a:solidFill>
                  <a:srgbClr val="3024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为什么这套系统有竞争力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9A2E7AB-5327-F89E-FEC1-AB57DF66FDB4}"/>
              </a:ext>
            </a:extLst>
          </p:cNvPr>
          <p:cNvSpPr txBox="1"/>
          <p:nvPr/>
        </p:nvSpPr>
        <p:spPr>
          <a:xfrm>
            <a:off x="711200" y="1422400"/>
            <a:ext cx="10795000" cy="34778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</a:t>
            </a:r>
            <a:r>
              <a:rPr lang="zh-CN" altLang="en-US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白板作为统一主控入口
</a:t>
            </a:r>
            <a:r>
              <a:rPr lang="en-US" altLang="zh-CN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老师围绕一个主入口组织课堂，减少在多个系统之间切换。
</a:t>
            </a:r>
            <a:r>
              <a:rPr lang="en-US" altLang="zh-CN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互动方式具有组合能力
</a:t>
            </a:r>
            <a:r>
              <a:rPr lang="en-US" altLang="zh-CN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任务、挑战、大屏互动、教具和 </a:t>
            </a:r>
            <a:r>
              <a:rPr lang="en-US" altLang="zh-CN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能力可以围绕同一节课组合使用。
</a:t>
            </a:r>
            <a:r>
              <a:rPr lang="en-US" altLang="zh-CN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 </a:t>
            </a:r>
            <a:r>
              <a:rPr lang="zh-CN" altLang="en-US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课堂回顾补足教学闭环
</a:t>
            </a:r>
            <a:r>
              <a:rPr lang="en-US" altLang="zh-CN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系统不仅解决“上课时发生了什么”，也开始解决“课后如何回看和复盘”。
</a:t>
            </a:r>
            <a:r>
              <a:rPr lang="en-US" altLang="zh-CN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 </a:t>
            </a:r>
            <a:r>
              <a:rPr lang="zh-CN" altLang="en-US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产品更贴近真实课堂流程
</a:t>
            </a:r>
            <a:r>
              <a:rPr lang="en-US" altLang="zh-CN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不是简单堆叠功能，而是按课堂组织方式来设计能力。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7337582-A945-31EB-6E26-4BA496199219}"/>
              </a:ext>
            </a:extLst>
          </p:cNvPr>
          <p:cNvSpPr txBox="1"/>
          <p:nvPr/>
        </p:nvSpPr>
        <p:spPr>
          <a:xfrm>
            <a:off x="711200" y="8636000"/>
            <a:ext cx="10668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8570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核心竞争力：白板主控下的一体化课堂运行能力。</a:t>
            </a:r>
          </a:p>
        </p:txBody>
      </p:sp>
    </p:spTree>
    <p:extLst>
      <p:ext uri="{BB962C8B-B14F-4D97-AF65-F5344CB8AC3E}">
        <p14:creationId xmlns:p14="http://schemas.microsoft.com/office/powerpoint/2010/main" val="1719065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C015BE5-9099-42DE-5032-A980D2A0060B}"/>
              </a:ext>
            </a:extLst>
          </p:cNvPr>
          <p:cNvSpPr/>
          <p:nvPr/>
        </p:nvSpPr>
        <p:spPr>
          <a:xfrm>
            <a:off x="0" y="0"/>
            <a:ext cx="12192000" cy="203200"/>
          </a:xfrm>
          <a:prstGeom prst="rect">
            <a:avLst/>
          </a:prstGeom>
          <a:solidFill>
            <a:srgbClr val="0677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BE4029D-1C42-A8EF-0476-A79136CB3061}"/>
              </a:ext>
            </a:extLst>
          </p:cNvPr>
          <p:cNvSpPr txBox="1"/>
          <p:nvPr/>
        </p:nvSpPr>
        <p:spPr>
          <a:xfrm>
            <a:off x="609600" y="457200"/>
            <a:ext cx="1041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800" b="1">
                <a:solidFill>
                  <a:srgbClr val="3024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5. </a:t>
            </a:r>
            <a:r>
              <a:rPr lang="zh-CN" altLang="en-US" sz="2800" b="1">
                <a:solidFill>
                  <a:srgbClr val="3024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当前最值得强调的价值点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EC5E8CD-D4C5-C03A-CE78-7605B90AA91F}"/>
              </a:ext>
            </a:extLst>
          </p:cNvPr>
          <p:cNvSpPr/>
          <p:nvPr/>
        </p:nvSpPr>
        <p:spPr>
          <a:xfrm>
            <a:off x="1016000" y="1778000"/>
            <a:ext cx="9906000" cy="1524000"/>
          </a:xfrm>
          <a:prstGeom prst="rect">
            <a:avLst/>
          </a:prstGeom>
          <a:solidFill>
            <a:srgbClr val="27181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老师只需要进入白板，就可以把一节课稳定地组织起来。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056F47A-548E-2678-8139-15E73A346D36}"/>
              </a:ext>
            </a:extLst>
          </p:cNvPr>
          <p:cNvSpPr txBox="1"/>
          <p:nvPr/>
        </p:nvSpPr>
        <p:spPr>
          <a:xfrm>
            <a:off x="1143000" y="3873500"/>
            <a:ext cx="9652000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这句话背后的含义：
</a:t>
            </a:r>
            <a:r>
              <a:rPr lang="en-US" altLang="zh-CN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课堂讲解、互动、教具、</a:t>
            </a:r>
            <a:r>
              <a:rPr lang="en-US" altLang="zh-CN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与回顾围绕同一主线展开
</a:t>
            </a:r>
            <a:r>
              <a:rPr lang="en-US" altLang="zh-CN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老师对课堂流程的控制更连续、更清晰
</a:t>
            </a:r>
            <a:r>
              <a:rPr lang="en-US" altLang="zh-CN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系统更像课堂运行平台，而不是多个工具拼接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5E3B470-7765-8626-F9F1-73F9A8D73229}"/>
              </a:ext>
            </a:extLst>
          </p:cNvPr>
          <p:cNvSpPr txBox="1"/>
          <p:nvPr/>
        </p:nvSpPr>
        <p:spPr>
          <a:xfrm>
            <a:off x="711200" y="8636000"/>
            <a:ext cx="10668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8570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建议对外表达时强调课堂主线，而不是功能数量。</a:t>
            </a:r>
          </a:p>
        </p:txBody>
      </p:sp>
    </p:spTree>
    <p:extLst>
      <p:ext uri="{BB962C8B-B14F-4D97-AF65-F5344CB8AC3E}">
        <p14:creationId xmlns:p14="http://schemas.microsoft.com/office/powerpoint/2010/main" val="152875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CE1603A-585E-D09B-B4A4-A3AE5626EDDF}"/>
              </a:ext>
            </a:extLst>
          </p:cNvPr>
          <p:cNvSpPr/>
          <p:nvPr/>
        </p:nvSpPr>
        <p:spPr>
          <a:xfrm>
            <a:off x="0" y="0"/>
            <a:ext cx="12192000" cy="203200"/>
          </a:xfrm>
          <a:prstGeom prst="rect">
            <a:avLst/>
          </a:prstGeom>
          <a:solidFill>
            <a:srgbClr val="0677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A6864E-1E89-EB1C-31B9-DB9580F3D0DB}"/>
              </a:ext>
            </a:extLst>
          </p:cNvPr>
          <p:cNvSpPr txBox="1"/>
          <p:nvPr/>
        </p:nvSpPr>
        <p:spPr>
          <a:xfrm>
            <a:off x="609600" y="457200"/>
            <a:ext cx="1041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800" b="1">
                <a:solidFill>
                  <a:srgbClr val="3024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6. </a:t>
            </a:r>
            <a:r>
              <a:rPr lang="zh-CN" altLang="en-US" sz="2800" b="1">
                <a:solidFill>
                  <a:srgbClr val="3024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当前成熟度与交付状态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E0AFF1-7D40-91AA-4FFE-4F84DD4B8439}"/>
              </a:ext>
            </a:extLst>
          </p:cNvPr>
          <p:cNvSpPr/>
          <p:nvPr/>
        </p:nvSpPr>
        <p:spPr>
          <a:xfrm>
            <a:off x="711200" y="1600200"/>
            <a:ext cx="4953000" cy="2159000"/>
          </a:xfrm>
          <a:prstGeom prst="rect">
            <a:avLst/>
          </a:prstGeom>
          <a:solidFill>
            <a:srgbClr val="F3FD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8C4DB24-1BF5-202D-A790-4FA61249AF47}"/>
              </a:ext>
            </a:extLst>
          </p:cNvPr>
          <p:cNvSpPr/>
          <p:nvPr/>
        </p:nvSpPr>
        <p:spPr>
          <a:xfrm>
            <a:off x="6223000" y="1600200"/>
            <a:ext cx="4953000" cy="2159000"/>
          </a:xfrm>
          <a:prstGeom prst="rect">
            <a:avLst/>
          </a:prstGeom>
          <a:solidFill>
            <a:srgbClr val="EDF7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AF43B61-C521-4189-933D-B0E907FDDE9B}"/>
              </a:ext>
            </a:extLst>
          </p:cNvPr>
          <p:cNvSpPr/>
          <p:nvPr/>
        </p:nvSpPr>
        <p:spPr>
          <a:xfrm>
            <a:off x="711200" y="4216400"/>
            <a:ext cx="10337800" cy="2286000"/>
          </a:xfrm>
          <a:prstGeom prst="rect">
            <a:avLst/>
          </a:prstGeom>
          <a:solidFill>
            <a:srgbClr val="FCFAF8"/>
          </a:solidFill>
          <a:ln>
            <a:solidFill>
              <a:srgbClr val="DDD5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27B07E1-E58B-EB27-98DC-638970E711F8}"/>
              </a:ext>
            </a:extLst>
          </p:cNvPr>
          <p:cNvSpPr txBox="1"/>
          <p:nvPr/>
        </p:nvSpPr>
        <p:spPr>
          <a:xfrm>
            <a:off x="990600" y="1905000"/>
            <a:ext cx="4445000" cy="14773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当前已经具备</a:t>
            </a:r>
          </a:p>
          <a:p>
            <a:r>
              <a:rPr lang="en-US" altLang="zh-CN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明确的课堂会话边界</a:t>
            </a:r>
          </a:p>
          <a:p>
            <a:r>
              <a:rPr lang="en-US" altLang="zh-CN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稳定的课堂通信主链路</a:t>
            </a:r>
          </a:p>
          <a:p>
            <a:r>
              <a:rPr lang="en-US" altLang="zh-CN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可用的互动与展示能力</a:t>
            </a:r>
          </a:p>
          <a:p>
            <a:r>
              <a:rPr lang="en-US" altLang="zh-CN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课后课堂回顾能力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1F9DF45-4AD9-9C34-CCAE-2BE8FA7DE712}"/>
              </a:ext>
            </a:extLst>
          </p:cNvPr>
          <p:cNvSpPr txBox="1"/>
          <p:nvPr/>
        </p:nvSpPr>
        <p:spPr>
          <a:xfrm>
            <a:off x="6502400" y="1905000"/>
            <a:ext cx="4318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当前更适合</a:t>
            </a:r>
          </a:p>
          <a:p>
            <a:r>
              <a:rPr lang="en-US" altLang="zh-CN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教学团队内部使用</a:t>
            </a:r>
          </a:p>
          <a:p>
            <a:r>
              <a:rPr lang="en-US" altLang="zh-CN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小规模客户试点</a:t>
            </a:r>
          </a:p>
          <a:p>
            <a:r>
              <a:rPr lang="en-US" altLang="zh-CN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明确课堂场景的产品演示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B11D135-32E3-274F-1659-3E7C16AF4E96}"/>
              </a:ext>
            </a:extLst>
          </p:cNvPr>
          <p:cNvSpPr txBox="1"/>
          <p:nvPr/>
        </p:nvSpPr>
        <p:spPr>
          <a:xfrm>
            <a:off x="990600" y="4572000"/>
            <a:ext cx="9652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需要持续关注
</a:t>
            </a:r>
            <a:r>
              <a:rPr lang="en-US" altLang="zh-CN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课堂主链路稳定性仍然是课堂产品的核心底盘
</a:t>
            </a:r>
            <a:r>
              <a:rPr lang="en-US" altLang="zh-CN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对老师来说，系统是否可靠，比功能数量更重要
</a:t>
            </a:r>
            <a:r>
              <a:rPr lang="en-US" altLang="zh-CN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后续迭代应继续保持“围绕课堂主线收口”的原则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C116A84-1C9E-2457-ACE6-06CA0D5FFE6D}"/>
              </a:ext>
            </a:extLst>
          </p:cNvPr>
          <p:cNvSpPr txBox="1"/>
          <p:nvPr/>
        </p:nvSpPr>
        <p:spPr>
          <a:xfrm>
            <a:off x="711200" y="8636000"/>
            <a:ext cx="10668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8570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当前状态适合用于试点、演示和持续打磨。</a:t>
            </a:r>
          </a:p>
        </p:txBody>
      </p:sp>
    </p:spTree>
    <p:extLst>
      <p:ext uri="{BB962C8B-B14F-4D97-AF65-F5344CB8AC3E}">
        <p14:creationId xmlns:p14="http://schemas.microsoft.com/office/powerpoint/2010/main" val="3661383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DF5BB9A-62E5-55B2-32C2-A88902A37C25}"/>
              </a:ext>
            </a:extLst>
          </p:cNvPr>
          <p:cNvSpPr/>
          <p:nvPr/>
        </p:nvSpPr>
        <p:spPr>
          <a:xfrm>
            <a:off x="0" y="0"/>
            <a:ext cx="12192000" cy="203200"/>
          </a:xfrm>
          <a:prstGeom prst="rect">
            <a:avLst/>
          </a:prstGeom>
          <a:solidFill>
            <a:srgbClr val="0677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6235435-615B-9991-6AC9-B61A3DB94749}"/>
              </a:ext>
            </a:extLst>
          </p:cNvPr>
          <p:cNvSpPr txBox="1"/>
          <p:nvPr/>
        </p:nvSpPr>
        <p:spPr>
          <a:xfrm>
            <a:off x="609600" y="457200"/>
            <a:ext cx="1041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800" b="1">
                <a:solidFill>
                  <a:srgbClr val="3024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7. </a:t>
            </a:r>
            <a:r>
              <a:rPr lang="zh-CN" altLang="en-US" sz="2800" b="1">
                <a:solidFill>
                  <a:srgbClr val="3024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后续演进方向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CA48AAF-8B9A-E1DE-FF32-5F4C55A6DDA1}"/>
              </a:ext>
            </a:extLst>
          </p:cNvPr>
          <p:cNvSpPr txBox="1"/>
          <p:nvPr/>
        </p:nvSpPr>
        <p:spPr>
          <a:xfrm>
            <a:off x="711200" y="1422400"/>
            <a:ext cx="10668000" cy="34778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</a:t>
            </a:r>
            <a:r>
              <a:rPr lang="zh-CN" altLang="en-US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大屏互动系统
</a:t>
            </a:r>
            <a:r>
              <a:rPr lang="en-US" altLang="zh-CN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把大屏互动做成更清晰的独立活动系统，增强课堂展示力。
</a:t>
            </a:r>
            <a:r>
              <a:rPr lang="en-US" altLang="zh-CN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胖鼠 </a:t>
            </a:r>
            <a:r>
              <a:rPr lang="en-US" altLang="zh-CN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副班升级
</a:t>
            </a:r>
            <a:r>
              <a:rPr lang="en-US" altLang="zh-CN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继续强化快捷问题、语音讲解与 </a:t>
            </a:r>
            <a:r>
              <a:rPr lang="en-US" altLang="zh-CN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辅助讲解能力。
</a:t>
            </a:r>
            <a:r>
              <a:rPr lang="en-US" altLang="zh-CN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 </a:t>
            </a:r>
            <a:r>
              <a:rPr lang="zh-CN" altLang="en-US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课堂回顾增强
</a:t>
            </a:r>
            <a:r>
              <a:rPr lang="en-US" altLang="zh-CN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提升摘要、时间线、互动统计和复盘价值。
</a:t>
            </a:r>
            <a:r>
              <a:rPr lang="en-US" altLang="zh-CN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 </a:t>
            </a:r>
            <a:r>
              <a:rPr lang="zh-CN" altLang="en-US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更完善的教师副控能力
</a:t>
            </a:r>
            <a:r>
              <a:rPr lang="en-US" altLang="zh-CN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5440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在不打断白板主展示的前提下，逐步补足隐蔽控制与快捷操作。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8E16A3E-BD1C-9D4A-33C9-2866DBD8E8EE}"/>
              </a:ext>
            </a:extLst>
          </p:cNvPr>
          <p:cNvSpPr txBox="1"/>
          <p:nvPr/>
        </p:nvSpPr>
        <p:spPr>
          <a:xfrm>
            <a:off x="711200" y="8636000"/>
            <a:ext cx="10668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8570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方向原则：围绕课堂主线增强，而不是扩散成更多孤立功能。</a:t>
            </a:r>
          </a:p>
        </p:txBody>
      </p:sp>
    </p:spTree>
    <p:extLst>
      <p:ext uri="{BB962C8B-B14F-4D97-AF65-F5344CB8AC3E}">
        <p14:creationId xmlns:p14="http://schemas.microsoft.com/office/powerpoint/2010/main" val="3723513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855</Words>
  <Application>Microsoft Office PowerPoint</Application>
  <PresentationFormat>宽屏</PresentationFormat>
  <Paragraphs>48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杨 刘</dc:creator>
  <cp:lastModifiedBy>杨 刘</cp:lastModifiedBy>
  <cp:revision>1</cp:revision>
  <dcterms:created xsi:type="dcterms:W3CDTF">2026-04-10T08:08:15Z</dcterms:created>
  <dcterms:modified xsi:type="dcterms:W3CDTF">2026-04-10T08:08:15Z</dcterms:modified>
</cp:coreProperties>
</file>